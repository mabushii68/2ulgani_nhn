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EBEBF0"/>
                </a:solidFill>
                <a:latin typeface="맑은 고딕"/>
              </a:rPr>
              <a:t>러다이트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EBEBF0"/>
                </a:solidFill>
                <a:latin typeface="맑은 고딕"/>
              </a:rPr>
              <a:t>AI는 당신의 플레이를 학습합니다. </a:t>
            </a:r>
            <a:r>
              <a:rPr sz="2200" b="1">
                <a:solidFill>
                  <a:srgbClr val="FF2EB8"/>
                </a:solidFill>
                <a:latin typeface="맑은 고딕"/>
              </a:rPr>
              <a:t>그러니 AI에게 거짓말하세요.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NHN 게임 AI 공모전 · 팀 2인 (이양빈 — 기획/AI/전투 · 김정준 — 아트/UI/파이프라인)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플레이: https://mabushii68.github.io/2ulgani_NHN/  ·  개발 7일 (08.04 – 08.10)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BEBF0"/>
                </a:solidFill>
                <a:latin typeface="맑은 고딕"/>
              </a:rPr>
              <a:t>게임 AI의 역발상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C929E"/>
                </a:solidFill>
                <a:latin typeface="맑은 고딕"/>
              </a:rPr>
              <a:t>대부분의 게임 AI는  숨겨져 있고,  더 강해지는 방향으로 작동한다.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EBEBF0"/>
                </a:solidFill>
                <a:latin typeface="맑은 고딕"/>
              </a:rPr>
              <a:t>우리는 AI를 </a:t>
            </a:r>
            <a:r>
              <a:rPr sz="2600" b="1">
                <a:solidFill>
                  <a:srgbClr val="FF2EB8"/>
                </a:solidFill>
                <a:latin typeface="맑은 고딕"/>
              </a:rPr>
              <a:t>공개</a:t>
            </a:r>
            <a:r>
              <a:rPr sz="2600" b="0">
                <a:solidFill>
                  <a:srgbClr val="EBEBF0"/>
                </a:solidFill>
                <a:latin typeface="맑은 고딕"/>
              </a:rPr>
              <a:t>하고, 플레이어가 </a:t>
            </a:r>
            <a:r>
              <a:rPr sz="2600" b="1">
                <a:solidFill>
                  <a:srgbClr val="FF2EB8"/>
                </a:solidFill>
                <a:latin typeface="맑은 고딕"/>
              </a:rPr>
              <a:t>속이는 대상</a:t>
            </a:r>
            <a:r>
              <a:rPr sz="2600" b="0">
                <a:solidFill>
                  <a:srgbClr val="EBEBF0"/>
                </a:solidFill>
                <a:latin typeface="맑은 고딕"/>
              </a:rPr>
              <a:t>으로 만들었다.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AI의 학습 현황(확률·신뢰도)이 화면에 항상 떠 있다 — 숨겨진 치트가 아니라 읽을 수 있는 상대.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따라서 이 게임의 실력은 조작 숙련이 아니라, 자신에 대한 예측을 읽고 배신하는 심리전이다.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2EB8"/>
                </a:solidFill>
                <a:latin typeface="맑은 고딕"/>
              </a:rPr>
              <a:t>핵심 루프 — 학습 → 공개 → 예측 → 배신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606040" cy="201168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9202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BEBF0"/>
                </a:solidFill>
                <a:latin typeface="맑은 고딕"/>
              </a:rPr>
              <a:t>① 관찰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적탄이 접근할 때마다 좌/우
회피를 기록 (피격 위기 이벤트)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93008" y="1737360"/>
            <a:ext cx="2606040" cy="201168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8" y="19202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BEBF0"/>
                </a:solidFill>
                <a:latin typeface="맑은 고딕"/>
              </a:rPr>
              <a:t>② 공개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8" y="251460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AI MODEL: LEARNING…
→ LEFT 73% [HIGH]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5936" y="1737360"/>
            <a:ext cx="2606040" cy="201168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9202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2EB8"/>
                </a:solidFill>
                <a:latin typeface="맑은 고딕"/>
              </a:rPr>
              <a:t>③ 예측탄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51460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확신한 AI가 당신이 '피할 자리'로
마젠타 예측탄 발사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98863" y="1737360"/>
            <a:ext cx="2606040" cy="201168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81743" y="19202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2EB8"/>
                </a:solidFill>
                <a:latin typeface="맑은 고딕"/>
              </a:rPr>
              <a:t>④ 배신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1743" y="2514600"/>
            <a:ext cx="2240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조준선을 읽고 반대로 회피
→ PREDICTION 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0972800" cy="219456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②→④ 연속 장면: HUD HIGH 전환 → 마젠타 조준선 → PREDICTION FAILED 연출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BEBF0"/>
                </a:solidFill>
                <a:latin typeface="맑은 고딕"/>
              </a:rPr>
              <a:t>읽을 수 있는 AI — 확률 표기가 곧 공략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HUD 미니 패널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상시 노출: 학습 상태 · 우세 방향 · 신뢰도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TARGET PROFILE (상자 오픈 화면)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웨이브마다 AI가 본 나를 열람 — 표본 수, 좌/우 편향,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예측 적중률. 다음 방 전에 '나를 어떻게 속일지' 계획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COUNTER PROTOCOL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AI를 겨냥한 업그레이드 2종 — 행동교정(관측 삭제),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논문조작(가짜 표본 주입으로 역방향 학습 유도)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577840" cy="228600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HUD 미니 패널 (LEFT 73% HIGH 상태)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3840480"/>
            <a:ext cx="5577840" cy="228600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TARGET PROFILE 패널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BEBF0"/>
                </a:solidFill>
                <a:latin typeface="맑은 고딕"/>
              </a:rPr>
              <a:t>진행 구조 — 선형 던전 + 세부전공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시작방 ─복도─ 전투방 1 ~ 6 ─복도─ 보스방   (방 락인: 전멸해야 문이 열린다 — 시간 버티기 불가)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BEBF0"/>
                </a:solidFill>
                <a:latin typeface="맑은 고딕"/>
              </a:rPr>
              <a:t>전공 3 × 세부전공 3 = 9가지 정체성, 9가지 탄막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352044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A6FF"/>
                </a:solidFill>
                <a:latin typeface="맑은 고딕"/>
              </a:rPr>
              <a:t>문과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929E"/>
                </a:solidFill>
                <a:latin typeface="맑은 고딕"/>
              </a:rPr>
              <a:t>어문계=연필 · 상경계=돈 · 법조계=책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17520"/>
            <a:ext cx="352044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53C87A"/>
                </a:solidFill>
                <a:latin typeface="맑은 고딕"/>
              </a:rPr>
              <a:t>이과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703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929E"/>
                </a:solidFill>
                <a:latin typeface="맑은 고딕"/>
              </a:rPr>
              <a:t>자연과학=숫자 · 공학=번개 · 컴퓨터과학=모니터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017520"/>
            <a:ext cx="352044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32004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C54A"/>
                </a:solidFill>
                <a:latin typeface="맑은 고딕"/>
              </a:rPr>
              <a:t>예체능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703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C929E"/>
                </a:solidFill>
                <a:latin typeface="맑은 고딕"/>
              </a:rPr>
              <a:t>체육=공 · 미술=붓 · 음악=음표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10972800" cy="173736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세부전공 선택 화면 + 테마 탄막 발사 장면 (2장 나란히)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2EB8"/>
                </a:solidFill>
                <a:latin typeface="맑은 고딕"/>
              </a:rPr>
              <a:t>AI 구조 ① — 무엇을 학습하는가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BEBF0"/>
                </a:solidFill>
                <a:latin typeface="맑은 고딕"/>
              </a:rPr>
              <a:t>피격 위기 이벤트: </a:t>
            </a:r>
            <a:r>
              <a:rPr sz="1700" b="0">
                <a:solidFill>
                  <a:srgbClr val="8C929E"/>
                </a:solidFill>
                <a:latin typeface="맑은 고딕"/>
              </a:rPr>
              <a:t>TTI(충돌까지 시간) 0.5초 이내 탄 접근 시 트리거 → 0.6초 뒤 좌/우 회피 판정 (변위 0.3u 미만은 표본 제외)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BEBF0"/>
                </a:solidFill>
                <a:latin typeface="맑은 고딕"/>
              </a:rPr>
              <a:t>LEFT / RIGHT 2분류 조건부 확률 — </a:t>
            </a:r>
            <a:r>
              <a:rPr sz="1700" b="0">
                <a:solidFill>
                  <a:srgbClr val="8C929E"/>
                </a:solidFill>
                <a:latin typeface="맑은 고딕"/>
              </a:rPr>
              <a:t>의도적 절제: 8방향 회귀가 아니라 2분류여야 플레이어가 '읽고 속일 수 있는' 단위가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수식: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P(LEFT) = (n_left + 1) / (n_total + 2)   — 가상 카운트(1,1)로 초기 과확신 방지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망각: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웨이브 종료마다 관측 카운트 ×0.8 — 옛 습관은 흐려지고 최근 행동이 지배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게이트: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표본 수 + 편향 강도 임계를 넘어야 신뢰도 HIGH → 그때만 예측탄 발사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구현: AIBrain은 순수 C# (엔진 무의존) — 가짜 이벤트 시퀀스로 단위 검증, MonoBehaviour 어댑터가 이벤트만 전달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2EB8"/>
                </a:solidFill>
                <a:latin typeface="맑은 고딕"/>
              </a:rPr>
              <a:t>AI 구조 ② — 예측탄과 배신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2EB8"/>
                </a:solidFill>
                <a:latin typeface="맑은 고딕"/>
              </a:rPr>
              <a:t>예측탄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신뢰도 HIGH일 때 엘리트·보스가 플레이어의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'회피 예상 지점'을 조준 — 마젠타 조준선을 먼저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보여준다 (읽을 시간을 준다 = 심리전 성립 조건)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2EB8"/>
                </a:solidFill>
                <a:latin typeface="맑은 고딕"/>
              </a:rPr>
              <a:t>PREDICTION FAILED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예측을 배신하면 히트스톱 + 글리치 연출 +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신뢰도 하락이 눈앞에서 벌어진다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역카운터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예측탄의 예측 방향 vs 실제 회피를 대조 집계 —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결과 프로필의 '역카운터 성공률'로 환산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212080" cy="228600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마젠타 조준선 + 예측탄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840480"/>
            <a:ext cx="5212080" cy="228600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PREDICTION FAILED 글리치 연출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2EB8"/>
                </a:solidFill>
                <a:latin typeface="맑은 고딕"/>
              </a:rPr>
              <a:t>보스 「거대 LLM」 P2 — PATTERN: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BEBF0"/>
                </a:solidFill>
                <a:latin typeface="맑은 고딕"/>
              </a:rPr>
              <a:t>게임 내내 나를 학습한 AI가, 마지막에 </a:t>
            </a:r>
            <a:r>
              <a:rPr sz="2400" b="1">
                <a:solidFill>
                  <a:srgbClr val="FF2EB8"/>
                </a:solidFill>
                <a:latin typeface="맑은 고딕"/>
              </a:rPr>
              <a:t>나 자신이 되어 돌아온다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교전 거리 복제 — 내가 유지하던 거리를 보스가 유지한다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무기 복제 — 내 전공 무기의 마젠타 버전을 쏜다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구역 선점 — 내가 좋아하던 자리에 장판을 깐다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예측탄 — 축적된 학습의 총화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0972800" cy="192024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보스 P2 진입 오버레이 + 마젠타 오라 전투 장면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BEBF0"/>
                </a:solidFill>
                <a:latin typeface="맑은 고딕"/>
              </a:rPr>
              <a:t>최종 점수는 숫자가 아니라 프로필이다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BEBF0"/>
                </a:solidFill>
                <a:latin typeface="맑은 고딕"/>
              </a:rPr>
              <a:t>결과 화면 「AI가 학습한 나」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AI가 붙여준 별명 (플레이 스타일 기반)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평균 교전 거리 / 회피 좌우 편향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· AI 예측 적중률 vs 역카운터 성공률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EBEBF0"/>
                </a:solidFill>
                <a:latin typeface="맑은 고딕"/>
              </a:rPr>
              <a:t>승패와 무관하게 출력 — 패배해도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EBEBF0"/>
                </a:solidFill>
                <a:latin typeface="맑은 고딕"/>
              </a:rPr>
              <a:t>'AI에게 어떻게 읽혔는가'가 남는다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94960" cy="4023360"/>
          </a:xfrm>
          <a:prstGeom prst="roundRect">
            <a:avLst/>
          </a:prstGeom>
          <a:solidFill>
            <a:srgbClr val="1B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8C929E"/>
                </a:solidFill>
                <a:latin typeface="맑은 고딕"/>
              </a:rPr>
              <a:t>[ 스크린샷 ]
결과 프로필 화면 (별명 + 통계)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BEBF0"/>
                </a:solidFill>
                <a:latin typeface="맑은 고딕"/>
              </a:rPr>
              <a:t>세부 설계 판단들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매크로 DDA —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잘하는 판엔 스폰 가속, 몰리는 판엔 감속. AI 학습과 분리된 별도 축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예측탄 온스크린 게이트 —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화면 밖에서 쏘는 예측탄은 심리전이 아니라 이지선다 강요 → 화면 안에서만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색 계약 —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마젠타·핫핑크 = 'AI가 나를 읽고 행하는 것' 전용 예약. 그 외 위협은 무채색~주황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실루엣 차별 —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위협 신호를 색 하나에 걸지 않는다 (색맹 접근성, 예측탄은 모양도 다름)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BEBF0"/>
                </a:solidFill>
                <a:latin typeface="맑은 고딕"/>
              </a:rPr>
              <a:t>전멸형 종료 — </a:t>
            </a:r>
            <a:r>
              <a:rPr sz="1600" b="0">
                <a:solidFill>
                  <a:srgbClr val="8C929E"/>
                </a:solidFill>
                <a:latin typeface="맑은 고딕"/>
              </a:rPr>
              <a:t>시간제면 '버티기'가 최적해가 되어 AI에게 줄 회피 표본 자체가 사라진다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2EB8"/>
                </a:solidFill>
                <a:latin typeface="맑은 고딕"/>
              </a:rPr>
              <a:t>개발 프로세스 — AI로 AI 게임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EBEBF0"/>
                </a:solidFill>
                <a:latin typeface="맑은 고딕"/>
              </a:rPr>
              <a:t>Claude Code + Unity MCP</a:t>
            </a:r>
            <a:r>
              <a:rPr sz="1900" b="0">
                <a:solidFill>
                  <a:srgbClr val="8C929E"/>
                </a:solidFill>
                <a:latin typeface="맑은 고딕"/>
              </a:rPr>
              <a:t>  —  코드 작성 · 에디터 조작 · 씬 구성 · 테스트 · 문서화 전 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205740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BEBF0"/>
                </a:solidFill>
                <a:latin typeface="맑은 고딕"/>
              </a:rPr>
              <a:t>7일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개발 기간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468880"/>
            <a:ext cx="205740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6517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BEBF0"/>
                </a:solidFill>
                <a:latin typeface="맑은 고딕"/>
              </a:rPr>
              <a:t>2인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291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468880"/>
            <a:ext cx="205740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6517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BEBF0"/>
                </a:solidFill>
                <a:latin typeface="맑은 고딕"/>
              </a:rPr>
              <a:t>106+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291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커밋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468880"/>
            <a:ext cx="205740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6517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BEBF0"/>
                </a:solidFill>
                <a:latin typeface="맑은 고딕"/>
              </a:rPr>
              <a:t>46+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291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AI 세션 로그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468880"/>
            <a:ext cx="2057400" cy="1371600"/>
          </a:xfrm>
          <a:prstGeom prst="roundRect">
            <a:avLst/>
          </a:prstGeom>
          <a:solidFill>
            <a:srgbClr val="14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6517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EBEBF0"/>
                </a:solidFill>
                <a:latin typeface="맑은 고딕"/>
              </a:rPr>
              <a:t>18.2MB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291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8C929E"/>
                </a:solidFill>
                <a:latin typeface="맑은 고딕"/>
              </a:rPr>
              <a:t>WebGL 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· 모든 세션을 AI_USAGE_LOG에 실시간 기록 — 프롬프트 원문, 결과, 실패까지 (사후 재구성 없음)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· 씬·프리팹·SO 구성은 전부 재실행 가능한 결정론 에디터 빌더로 — 사람 실수를 코드 재실행으로 복구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· 실패 기록 보존: ML-Agents 미착수 판단, 도구 한계 우회 등 — '시도와 판단'의 서사가 기술 문서의 자산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929E"/>
                </a:solidFill>
                <a:latin typeface="맑은 고딕"/>
              </a:rPr>
              <a:t>· 탄막 아트 5종은 절차 생성(문자열 마스크 픽셀 아트), SFX·BGM 10종은 수식 신스로 자체 합성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BEBF0"/>
                </a:solidFill>
                <a:latin typeface="맑은 고딕"/>
              </a:rPr>
              <a:t>제원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엔진  </a:t>
            </a:r>
            <a:r>
              <a:rPr sz="1700" b="0">
                <a:solidFill>
                  <a:srgbClr val="EBEBF0"/>
                </a:solidFill>
                <a:latin typeface="맑은 고딕"/>
              </a:rPr>
              <a:t>Unity 6000.3.7f1 · URP 2D Renderer · 단일 씬 상태 머신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배포  </a:t>
            </a:r>
            <a:r>
              <a:rPr sz="1700" b="0">
                <a:solidFill>
                  <a:srgbClr val="EBEBF0"/>
                </a:solidFill>
                <a:latin typeface="맑은 고딕"/>
              </a:rPr>
              <a:t>WebGL 18.24MB · Gzip · GitHub Pages — 링크 클릭만으로 플레이, 설치·로그인 없음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AI    </a:t>
            </a:r>
            <a:r>
              <a:rPr sz="1700" b="0">
                <a:solidFill>
                  <a:srgbClr val="EBEBF0"/>
                </a:solidFill>
                <a:latin typeface="맑은 고딕"/>
              </a:rPr>
              <a:t>온라인 조건부 확률 모델 (순수 C#) — 런타임 학습, 사전 훈련 없음, 서버 없음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에셋  </a:t>
            </a:r>
            <a:r>
              <a:rPr sz="1700" b="0">
                <a:solidFill>
                  <a:srgbClr val="EBEBF0"/>
                </a:solidFill>
                <a:latin typeface="맑은 고딕"/>
              </a:rPr>
              <a:t>Franuka 픽셀 아트 팩 (라이선스 준수 · CREDITS 전량 기재) + 자체 절차 생성분</a:t>
            </a:r>
          </a:p>
          <a:p>
            <a:pPr algn="l">
              <a:lnSpc>
                <a:spcPct val="160000"/>
              </a:lnSpc>
            </a:pPr>
            <a:r>
              <a:rPr sz="1700" b="0">
                <a:solidFill>
                  <a:srgbClr val="8C929E"/>
                </a:solidFill>
                <a:latin typeface="맑은 고딕"/>
              </a:rPr>
              <a:t>문서  </a:t>
            </a:r>
            <a:r>
              <a:rPr sz="1700" b="0">
                <a:solidFill>
                  <a:srgbClr val="EBEBF0"/>
                </a:solidFill>
                <a:latin typeface="맑은 고딕"/>
              </a:rPr>
              <a:t>게임 소개 · AI 활용 기술 문서 · 팀 롤 기술서 — 매 세션 로그가 원천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EBEBF0"/>
                </a:solidFill>
                <a:latin typeface="맑은 고딕"/>
              </a:rPr>
              <a:t>플레이 영상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(30~60초 제출 영상 삽입 — 김정준)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>
                <a:solidFill>
                  <a:srgbClr val="EBEBF0"/>
                </a:solidFill>
                <a:latin typeface="맑은 고딕"/>
              </a:rPr>
              <a:t>당신은 AI에게 </a:t>
            </a:r>
            <a:r>
              <a:rPr sz="3600" b="1">
                <a:solidFill>
                  <a:srgbClr val="FF2EB8"/>
                </a:solidFill>
                <a:latin typeface="맑은 고딕"/>
              </a:rPr>
              <a:t>어떻게 기억될</a:t>
            </a:r>
            <a:r>
              <a:rPr sz="3600" b="0">
                <a:solidFill>
                  <a:srgbClr val="EBEBF0"/>
                </a:solidFill>
                <a:latin typeface="맑은 고딕"/>
              </a:rPr>
              <a:t>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플레이  https://mabushii68.github.io/2ulgani_NHN/</a:t>
            </a:r>
          </a:p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8C929E"/>
                </a:solidFill>
                <a:latin typeface="맑은 고딕"/>
              </a:rPr>
              <a:t>소스  https://github.com/mabushii68/2ulgani_NHN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